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e605bc2dd54afe" /><Relationship Type="http://schemas.openxmlformats.org/officeDocument/2006/relationships/extended-properties" Target="/docProps/app.xml" Id="R6eeca1e1ee3a42e7" /><Relationship Type="http://schemas.openxmlformats.org/officeDocument/2006/relationships/officeDocument" Target="/ppt/presentation.xml" Id="R8f4136ac1319463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ce70c7480a64f25"/>
  </p:sldMasterIdLst>
  <p:notesMasterIdLst>
    <p:notesMasterId xmlns:r="http://schemas.openxmlformats.org/officeDocument/2006/relationships" r:id="Rc3d40cdb9bf949c3"/>
  </p:notesMasterIdLst>
  <p:sldIdLst>
    <p:sldId xmlns:r="http://schemas.openxmlformats.org/officeDocument/2006/relationships" id="256" r:id="R07855918110441f6"/>
    <p:sldId xmlns:r="http://schemas.openxmlformats.org/officeDocument/2006/relationships" id="257" r:id="R80889dce57a0478e"/>
    <p:sldId xmlns:r="http://schemas.openxmlformats.org/officeDocument/2006/relationships" id="258" r:id="R75bb9e9df0e84ecf"/>
    <p:sldId xmlns:r="http://schemas.openxmlformats.org/officeDocument/2006/relationships" id="259" r:id="R41cfc926935648d5"/>
    <p:sldId xmlns:r="http://schemas.openxmlformats.org/officeDocument/2006/relationships" id="260" r:id="R7ad0105a8b8d427d"/>
    <p:sldId xmlns:r="http://schemas.openxmlformats.org/officeDocument/2006/relationships" id="261" r:id="Rc000d6eef16344d6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42af3f0cb043fb" /><Relationship Type="http://schemas.openxmlformats.org/officeDocument/2006/relationships/slideMaster" Target="/ppt/slideMasters/slideMaster1.xml" Id="R5ce70c7480a64f25" /><Relationship Type="http://schemas.openxmlformats.org/officeDocument/2006/relationships/notesMaster" Target="/ppt/notesMasters/notesMaster1.xml" Id="Rc3d40cdb9bf949c3" /><Relationship Type="http://schemas.openxmlformats.org/officeDocument/2006/relationships/presProps" Target="/ppt/presProps.xml" Id="R5760d0fbb8034e97" /><Relationship Type="http://schemas.openxmlformats.org/officeDocument/2006/relationships/viewProps" Target="/ppt/viewProps.xml" Id="R51b7f373fa2348ce" /><Relationship Type="http://schemas.openxmlformats.org/officeDocument/2006/relationships/tableStyles" Target="/ppt/tableStyles.xml" Id="R10528b3683214423" /><Relationship Type="http://schemas.openxmlformats.org/officeDocument/2006/relationships/slide" Target="/ppt/slides/slide1.xml" Id="R07855918110441f6" /><Relationship Type="http://schemas.openxmlformats.org/officeDocument/2006/relationships/slide" Target="/ppt/slides/slide2.xml" Id="R80889dce57a0478e" /><Relationship Type="http://schemas.openxmlformats.org/officeDocument/2006/relationships/slide" Target="/ppt/slides/slide3.xml" Id="R75bb9e9df0e84ecf" /><Relationship Type="http://schemas.openxmlformats.org/officeDocument/2006/relationships/slide" Target="/ppt/slides/slide4.xml" Id="R41cfc926935648d5" /><Relationship Type="http://schemas.openxmlformats.org/officeDocument/2006/relationships/slide" Target="/ppt/slides/slide5.xml" Id="R7ad0105a8b8d427d" /><Relationship Type="http://schemas.openxmlformats.org/officeDocument/2006/relationships/slide" Target="/ppt/slides/slide6.xml" Id="Rc000d6eef16344d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63b2ea54bc144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ef60136f5fa4af4" /><Relationship Type="http://schemas.openxmlformats.org/officeDocument/2006/relationships/notesMaster" Target="/ppt/notesMasters/notesMaster1.xml" Id="Rffbf07f333ef437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0f9ce5b3ec747e5" /><Relationship Type="http://schemas.openxmlformats.org/officeDocument/2006/relationships/notesMaster" Target="/ppt/notesMasters/notesMaster1.xml" Id="R01ed2e8e0e554e4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a3b1e9cee34be1" /><Relationship Type="http://schemas.openxmlformats.org/officeDocument/2006/relationships/notesMaster" Target="/ppt/notesMasters/notesMaster1.xml" Id="R2638d155de9846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15a80596a24d6e" /><Relationship Type="http://schemas.openxmlformats.org/officeDocument/2006/relationships/notesMaster" Target="/ppt/notesMasters/notesMaster1.xml" Id="R772d6a2081c74d2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8601a86a884414" /><Relationship Type="http://schemas.openxmlformats.org/officeDocument/2006/relationships/notesMaster" Target="/ppt/notesMasters/notesMaster1.xml" Id="Rab315a4a0fc3493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8673d6735b42c4" /><Relationship Type="http://schemas.openxmlformats.org/officeDocument/2006/relationships/notesMaster" Target="/ppt/notesMasters/notesMaster1.xml" Id="Rbd0111ef6e084a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225bce654c4ca5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bc51901100244d8" /><Relationship Type="http://schemas.openxmlformats.org/officeDocument/2006/relationships/slideLayout" Target="/ppt/slideLayouts/slideLayout1.xml" Id="Rdff0ba2b2f0942b9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f0ba2b2f0942b9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284a8d8ab74111" /><Relationship Type="http://schemas.openxmlformats.org/officeDocument/2006/relationships/image" Target="/ppt/media/image.png" Id="R2546da9e88ca4e52" /><Relationship Type="http://schemas.openxmlformats.org/officeDocument/2006/relationships/notesSlide" Target="/ppt/notesSlides/notesSlide1.xml" Id="R85803515fe93423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bd67510eed49c3" /><Relationship Type="http://schemas.openxmlformats.org/officeDocument/2006/relationships/notesSlide" Target="/ppt/notesSlides/notesSlide2.xml" Id="Rdb0b4bf66e904f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700c33edf942f7" /><Relationship Type="http://schemas.openxmlformats.org/officeDocument/2006/relationships/image" Target="/ppt/media/image2.png" Id="R5fe08b64822949af" /><Relationship Type="http://schemas.openxmlformats.org/officeDocument/2006/relationships/notesSlide" Target="/ppt/notesSlides/notesSlide3.xml" Id="R77efcfa837a046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e3d62fdfe442dc" /><Relationship Type="http://schemas.openxmlformats.org/officeDocument/2006/relationships/notesSlide" Target="/ppt/notesSlides/notesSlide4.xml" Id="Rc750c6616b464ae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a9afa0a8654198" /><Relationship Type="http://schemas.openxmlformats.org/officeDocument/2006/relationships/image" Target="/ppt/media/image3.png" Id="R541d35335d914455" /><Relationship Type="http://schemas.openxmlformats.org/officeDocument/2006/relationships/notesSlide" Target="/ppt/notesSlides/notesSlide5.xml" Id="R60e44f9b14de43d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548d8114d6467a" /><Relationship Type="http://schemas.openxmlformats.org/officeDocument/2006/relationships/notesSlide" Target="/ppt/notesSlides/notesSlide6.xml" Id="R9bf76490d4a54ca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B18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46da9e88ca4e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EA2C1611-5113-4C8C-8787-2CC6E66D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12648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183A">
              <a:alpha val="96000"/>
            </a:srgbClr>
          </a:solidFill>
          <a:ln xmlns:a="http://schemas.openxmlformats.org/drawingml/2006/main" w="12700">
            <a:solidFill>
              <a:srgbClr val="2B183A">
                <a:alpha val="0"/>
              </a:srgbClr>
            </a:solidFill>
            <a:prstDash val="solid"/>
          </a:ln>
        </p:spPr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B04C57E9-6D53-49CE-9B28-AC2BA0245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4128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50">
                <a:solidFill>
                  <a:srgbClr val="DABCE7"/>
                </a:solidFill>
                <a:latin typeface="Aptos"/>
                <a:ea typeface="Aptos"/>
                <a:cs typeface="Aptos"/>
              </a:rPr>
              <a:t>TEAM ZAROORI BAAT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5D67900-084E-408D-9BB3-C0232E6C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17320"/>
            <a:ext cx="489204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team of 6</a:t>
            </a:r>
            <a:endParaRPr sz="2600"/>
          </a:p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building Slack intelligence</a:t>
            </a:r>
            <a:endParaRPr sz="26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ADB8AA4-A445-47DB-A819-C0FECEFD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76672"/>
            <a:ext cx="5303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F1E8F6"/>
                </a:solidFill>
                <a:latin typeface="Aptos"/>
                <a:ea typeface="Aptos"/>
                <a:cs typeface="Aptos"/>
              </a:rPr>
              <a:t>Zaroori Baat  |  Slack message intelligence</a:t>
            </a:r>
            <a:endParaRPr sz="105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A966FF41-2AF7-41E0-B7D3-817A021F7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06440"/>
            <a:ext cx="2011680" cy="420624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D52C69"/>
          </a:solidFill>
          <a:ln xmlns:a="http://schemas.openxmlformats.org/drawingml/2006/main" w="12700">
            <a:solidFill>
              <a:srgbClr val="D52C69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EF831E5C-5446-46D9-82C9-7E3956EC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06440"/>
            <a:ext cx="201168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LIVE DEMO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9079529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9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FC64703-FD41-46D4-8881-507DB4378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4114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80">
                <a:solidFill>
                  <a:srgbClr val="6A3B84"/>
                </a:solidFill>
                <a:latin typeface="Aptos"/>
                <a:ea typeface="Aptos"/>
                <a:cs typeface="Aptos"/>
              </a:rPr>
              <a:t>PRODUCT OUTCOME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352B60E-8A54-4541-900A-0113F4BA9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85800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281E30"/>
                </a:solidFill>
                <a:latin typeface="Aptos Display"/>
                <a:ea typeface="Aptos Display"/>
                <a:cs typeface="Aptos Display"/>
              </a:rPr>
              <a:t>One workspace for Slack signals that need a human decision</a:t>
            </a:r>
            <a:endParaRPr sz="25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C6F3502-B269-4BA0-B999-A03F34AF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3474720" cy="324612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CEDD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506583D-D4A7-4312-87A1-F0031772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73152" cy="3246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7EC9"/>
          </a:solidFill>
          <a:ln xmlns:a="http://schemas.openxmlformats.org/drawingml/2006/main" w="12700">
            <a:solidFill>
              <a:srgbClr val="407EC9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0424EC7-4916-4788-9C35-F786EF7E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148840"/>
            <a:ext cx="2971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81E30"/>
                </a:solidFill>
                <a:latin typeface="Aptos"/>
                <a:ea typeface="Aptos"/>
                <a:cs typeface="Aptos"/>
              </a:rPr>
              <a:t>1. Capture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F0006F9-CAEA-4D36-BF65-9FDFFE8A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97480"/>
            <a:ext cx="297180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E6475"/>
                </a:solidFill>
                <a:latin typeface="Aptos"/>
                <a:ea typeface="Aptos"/>
                <a:cs typeface="Aptos"/>
              </a:rPr>
              <a:t>Slack events and bounded history sync enter the same protected workflow.</a:t>
            </a:r>
            <a:endParaRPr sz="11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BAC3CE0-0FF8-4452-AFF1-CF09A1634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1828800"/>
            <a:ext cx="3474720" cy="324612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CEDD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C9514332-44A3-4813-A3F6-2580EA2A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1828800"/>
            <a:ext cx="73152" cy="3246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740"/>
          </a:solidFill>
          <a:ln xmlns:a="http://schemas.openxmlformats.org/drawingml/2006/main" w="12700">
            <a:solidFill>
              <a:srgbClr val="F4B740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859D6F1-23D6-457D-BB39-2A1C98F92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2148840"/>
            <a:ext cx="2971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81E30"/>
                </a:solidFill>
                <a:latin typeface="Aptos"/>
                <a:ea typeface="Aptos"/>
                <a:cs typeface="Aptos"/>
              </a:rPr>
              <a:t>2. Understand</a:t>
            </a:r>
            <a:endParaRPr sz="1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9E4E5F3-D2BF-4294-895F-04958C01B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2697480"/>
            <a:ext cx="297180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E6475"/>
                </a:solidFill>
                <a:latin typeface="Aptos"/>
                <a:ea typeface="Aptos"/>
                <a:cs typeface="Aptos"/>
              </a:rPr>
              <a:t>The app classifies priority, retrieves context, extracts actions, and records decisions.</a:t>
            </a:r>
            <a:endParaRPr sz="11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74DD92E-A62F-4681-85A6-03A95554A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4" y="1828800"/>
            <a:ext cx="3474720" cy="324612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CEDD"/>
            </a:solidFill>
            <a:prstDash val="solid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BF4811FB-0D33-444D-B492-2CFC30DA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4" y="1828800"/>
            <a:ext cx="73152" cy="3246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2C69"/>
          </a:solidFill>
          <a:ln xmlns:a="http://schemas.openxmlformats.org/drawingml/2006/main" w="12700">
            <a:solidFill>
              <a:srgbClr val="D52C69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C8695E7-F1BE-43C0-A60E-81B76038F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148840"/>
            <a:ext cx="2971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81E30"/>
                </a:solidFill>
                <a:latin typeface="Aptos"/>
                <a:ea typeface="Aptos"/>
                <a:cs typeface="Aptos"/>
              </a:rPr>
              <a:t>3. Review</a:t>
            </a:r>
            <a:endParaRPr sz="15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B74073F-797A-451C-98CB-7C74C90F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697480"/>
            <a:ext cx="297180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E6475"/>
                </a:solidFill>
                <a:latin typeface="Aptos"/>
                <a:ea typeface="Aptos"/>
                <a:cs typeface="Aptos"/>
              </a:rPr>
              <a:t>People review the result. The app does not send a Slack reply or approve work automatically.</a:t>
            </a:r>
            <a:endParaRPr sz="11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E134997-B46D-4D97-8285-79BD55534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13832"/>
            <a:ext cx="10149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6A3B84"/>
                </a:solidFill>
                <a:latin typeface="Aptos"/>
                <a:ea typeface="Aptos"/>
                <a:cs typeface="Aptos"/>
              </a:rPr>
              <a:t>The demo focuses on speed, grounded context, and safety — every message receives a visible classification and reason.</a:t>
            </a:r>
            <a:endParaRPr sz="13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E09752C-371B-4AED-A413-BCC14834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46520"/>
            <a:ext cx="109087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D9CEDD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A2065E2-2EDB-475F-B604-B6B4B989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10528"/>
            <a:ext cx="7772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E6475"/>
                </a:solidFill>
                <a:latin typeface="Aptos"/>
                <a:ea typeface="Aptos"/>
                <a:cs typeface="Aptos"/>
              </a:rPr>
              <a:t>Product story</a:t>
            </a:r>
            <a:endParaRPr sz="7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D7322FF-55C6-4894-8A40-172A1EFB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6510528"/>
            <a:ext cx="1764792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6E6475"/>
                </a:solidFill>
                <a:latin typeface="Aptos"/>
                <a:ea typeface="Aptos"/>
                <a:cs typeface="Aptos"/>
              </a:rPr>
              <a:t>ZAROORI BAAT</a:t>
            </a:r>
            <a:endParaRPr sz="750"/>
          </a:p>
        </p:txBody>
      </p:sp>
    </p:spTree>
    <p:extLst>
      <p:ext uri="{BB962C8B-B14F-4D97-AF65-F5344CB8AC3E}">
        <p14:creationId xmlns:p14="http://schemas.microsoft.com/office/powerpoint/2010/main" val="9077270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e08b64822949a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9728" y="109728"/>
            <a:ext cx="11969496" cy="662025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0333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2B18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0633462-7B35-45A1-93E9-60FCE5E8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4114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80">
                <a:solidFill>
                  <a:srgbClr val="C9AAD9"/>
                </a:solidFill>
                <a:latin typeface="Aptos"/>
                <a:ea typeface="Aptos"/>
                <a:cs typeface="Aptos"/>
              </a:rPr>
              <a:t>KEY DECISION 1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B08DE35-F057-4AF5-A251-C4CAE50F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85800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Keep Slack delivery fast</a:t>
            </a:r>
            <a:endParaRPr sz="25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662A82E-0ED9-4E87-AFF7-FEEF99EB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310896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750">
            <a:solidFill>
              <a:srgbClr val="BFA2CD"/>
            </a:solidFill>
            <a:prstDash val="solid"/>
            <a:headEnd type="none"/>
            <a:tailEnd type="triangle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59570C9-1A27-4FCB-970B-535D2969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423160"/>
            <a:ext cx="1097280" cy="1097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7EC9"/>
          </a:solidFill>
          <a:ln xmlns:a="http://schemas.openxmlformats.org/drawingml/2006/main" w="12700">
            <a:solidFill>
              <a:srgbClr val="407EC9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B4B2787-DC82-497F-987E-7CBA6832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423160"/>
            <a:ext cx="1097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  <a:endParaRPr sz="20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7896A68-6F34-4F27-A143-9375AA83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3767328"/>
            <a:ext cx="1737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Slack event</a:t>
            </a:r>
            <a:endParaRPr sz="1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CF95A44-ED01-45BA-B201-1A970709E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4251960"/>
            <a:ext cx="214884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E9DDEC"/>
                </a:solidFill>
                <a:latin typeface="Aptos"/>
                <a:ea typeface="Aptos"/>
                <a:cs typeface="Aptos"/>
              </a:rPr>
              <a:t>Acknowledged immediately</a:t>
            </a:r>
            <a:endParaRPr sz="10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857DBDB-3BE5-4ED6-9934-6F7CF88F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423160"/>
            <a:ext cx="1097280" cy="1097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740"/>
          </a:solidFill>
          <a:ln xmlns:a="http://schemas.openxmlformats.org/drawingml/2006/main" w="12700">
            <a:solidFill>
              <a:srgbClr val="F4B740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DED0F4B-2F5B-41DF-AC64-C8850FA5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423160"/>
            <a:ext cx="1097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  <a:endParaRPr sz="2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58E87E8-F785-428C-91D1-35030FB2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3767328"/>
            <a:ext cx="1737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Inbox row</a:t>
            </a:r>
            <a:endParaRPr sz="1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85CF73C-5B67-48CB-912A-A62779CD2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4251960"/>
            <a:ext cx="214884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E9DDEC"/>
                </a:solidFill>
                <a:latin typeface="Aptos"/>
                <a:ea typeface="Aptos"/>
                <a:cs typeface="Aptos"/>
              </a:rPr>
              <a:t>Visible while queued</a:t>
            </a:r>
            <a:endParaRPr sz="10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B924B70-FEE6-416F-8D54-BD853D23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423160"/>
            <a:ext cx="1097280" cy="1097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2C69"/>
          </a:solidFill>
          <a:ln xmlns:a="http://schemas.openxmlformats.org/drawingml/2006/main" w="12700">
            <a:solidFill>
              <a:srgbClr val="D52C69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63F1A00-DE49-4F50-9766-63B39F77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423160"/>
            <a:ext cx="1097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  <a:endParaRPr sz="2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9D3003A-0482-4AEA-B40D-C6C6880BB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67328"/>
            <a:ext cx="1737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Background workflow</a:t>
            </a:r>
            <a:endParaRPr sz="1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7B3D1A6-8AED-4E08-A879-1E2AEE76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4251960"/>
            <a:ext cx="214884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E9DDEC"/>
                </a:solidFill>
                <a:latin typeface="Aptos"/>
                <a:ea typeface="Aptos"/>
                <a:cs typeface="Aptos"/>
              </a:rPr>
              <a:t>Enriches without blocking</a:t>
            </a:r>
            <a:endParaRPr sz="10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53E3C44-AFAA-4F40-80A4-062DDC8A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04688"/>
            <a:ext cx="9921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E8D9ED"/>
                </a:solidFill>
                <a:latin typeface="Aptos"/>
                <a:ea typeface="Aptos"/>
                <a:cs typeface="Aptos"/>
              </a:rPr>
              <a:t>Default: SLACK_FAST_PATH=true. A second Slack sync does not start while one is already running.</a:t>
            </a:r>
            <a:endParaRPr sz="13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8739A17-3591-400D-BCF8-49D04E48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46520"/>
            <a:ext cx="109087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604B70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3BB1621-3FD2-46B1-B001-67DC6819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10528"/>
            <a:ext cx="7772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9CDE0"/>
                </a:solidFill>
                <a:latin typeface="Aptos"/>
                <a:ea typeface="Aptos"/>
                <a:cs typeface="Aptos"/>
              </a:rPr>
              <a:t>Performance decision</a:t>
            </a:r>
            <a:endParaRPr sz="7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462B475F-8F95-4130-B6C0-FF9A730A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6510528"/>
            <a:ext cx="1764792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D9CDE0"/>
                </a:solidFill>
                <a:latin typeface="Aptos"/>
                <a:ea typeface="Aptos"/>
                <a:cs typeface="Aptos"/>
              </a:rPr>
              <a:t>ZAROORI BAAT</a:t>
            </a:r>
            <a:endParaRPr sz="750"/>
          </a:p>
        </p:txBody>
      </p:sp>
    </p:spTree>
    <p:extLst>
      <p:ext uri="{BB962C8B-B14F-4D97-AF65-F5344CB8AC3E}">
        <p14:creationId xmlns:p14="http://schemas.microsoft.com/office/powerpoint/2010/main" val="11924407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9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1d35335d9144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A305350-3258-463B-A6ED-C8875A6D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4114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80">
                <a:solidFill>
                  <a:srgbClr val="6A3B84"/>
                </a:solidFill>
                <a:latin typeface="Aptos"/>
                <a:ea typeface="Aptos"/>
                <a:cs typeface="Aptos"/>
              </a:rPr>
              <a:t>KEY DECISION 2</a:t>
            </a:r>
            <a:endParaRPr sz="85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04E45F0A-D807-44A9-9164-87FDBADF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85800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281E30"/>
                </a:solidFill>
                <a:latin typeface="Aptos Display"/>
                <a:ea typeface="Aptos Display"/>
                <a:cs typeface="Aptos Display"/>
              </a:rPr>
              <a:t>Hybrid RAG, stored locally</a:t>
            </a:r>
            <a:endParaRPr sz="250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F355FD16-92D5-4004-819F-83CB539E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74520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3B84"/>
          </a:solidFill>
          <a:ln xmlns:a="http://schemas.openxmlformats.org/drawingml/2006/main" w="12700">
            <a:solidFill>
              <a:srgbClr val="6A3B84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C7BCA9A-8902-45B2-AC28-A3DD1C461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1764792"/>
            <a:ext cx="4892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281E30"/>
                </a:solidFill>
                <a:latin typeface="Aptos"/>
                <a:ea typeface="Aptos"/>
                <a:cs typeface="Aptos"/>
              </a:rPr>
              <a:t>SQLite stores message embeddings locally.</a:t>
            </a:r>
            <a:endParaRPr sz="124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44EA09C3-B414-4C29-B251-E7796376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87752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3B84"/>
          </a:solidFill>
          <a:ln xmlns:a="http://schemas.openxmlformats.org/drawingml/2006/main" w="12700">
            <a:solidFill>
              <a:srgbClr val="6A3B84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BD4EC727-E60B-4B99-8D14-708B7CDA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2478024"/>
            <a:ext cx="4892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281E30"/>
                </a:solidFill>
                <a:latin typeface="Aptos"/>
                <a:ea typeface="Aptos"/>
                <a:cs typeface="Aptos"/>
              </a:rPr>
              <a:t>Cosine similarity augments keyword and thread matching.</a:t>
            </a:r>
            <a:endParaRPr sz="124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2DBB17FA-23E6-46CF-A14A-FF2E94222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00984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3B84"/>
          </a:solidFill>
          <a:ln xmlns:a="http://schemas.openxmlformats.org/drawingml/2006/main" w="12700">
            <a:solidFill>
              <a:srgbClr val="6A3B84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E27DD49-56E7-4B66-925B-62E21F5B9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3191256"/>
            <a:ext cx="4892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281E30"/>
                </a:solidFill>
                <a:latin typeface="Aptos"/>
                <a:ea typeface="Aptos"/>
                <a:cs typeface="Aptos"/>
              </a:rPr>
              <a:t>Refresh analysis uses RAG by default.</a:t>
            </a:r>
            <a:endParaRPr sz="124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E47C1098-3EED-4D7D-8130-03722EDC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14216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3B84"/>
          </a:solidFill>
          <a:ln xmlns:a="http://schemas.openxmlformats.org/drawingml/2006/main" w="12700">
            <a:solidFill>
              <a:srgbClr val="6A3B84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B6BA7A4-AD8E-40A1-954A-3B5A739E9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3904488"/>
            <a:ext cx="4892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281E30"/>
                </a:solidFill>
                <a:latin typeface="Aptos"/>
                <a:ea typeface="Aptos"/>
                <a:cs typeface="Aptos"/>
              </a:rPr>
              <a:t>RAG stays off the live fast path unless explicitly enabled.</a:t>
            </a:r>
            <a:endParaRPr sz="124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29A5B23-A483-4455-8242-A830C7D9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983480"/>
            <a:ext cx="5074920" cy="658368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DDF2E8"/>
          </a:solidFill>
          <a:ln xmlns:a="http://schemas.openxmlformats.org/drawingml/2006/main" w="12700">
            <a:solidFill>
              <a:srgbClr val="BDE2CF"/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7CC090-75F7-40BB-930C-1FCEF8B14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102352"/>
            <a:ext cx="4617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9715B"/>
                </a:solidFill>
                <a:latin typeface="Aptos"/>
                <a:ea typeface="Aptos"/>
                <a:cs typeface="Aptos"/>
              </a:rPr>
              <a:t>No Pinecone for this demo: the local index suits the current Slack history and keeps data local.</a:t>
            </a:r>
            <a:endParaRPr sz="95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90B9B14D-7081-4DD3-A3E1-C9928AAB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46520"/>
            <a:ext cx="109087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D9CEDD"/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D0144AE-C90A-4F55-B08C-CDB5335B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10528"/>
            <a:ext cx="7772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E6475"/>
                </a:solidFill>
                <a:latin typeface="Aptos"/>
                <a:ea typeface="Aptos"/>
                <a:cs typeface="Aptos"/>
              </a:rPr>
              <a:t>Context decision</a:t>
            </a:r>
            <a:endParaRPr sz="75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38BF9E5-CA8B-47A4-A697-29F9583B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6510528"/>
            <a:ext cx="1764792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6E6475"/>
                </a:solidFill>
                <a:latin typeface="Aptos"/>
                <a:ea typeface="Aptos"/>
                <a:cs typeface="Aptos"/>
              </a:rPr>
              <a:t>ZAROORI BAAT</a:t>
            </a:r>
            <a:endParaRPr sz="750"/>
          </a:p>
        </p:txBody>
      </p:sp>
    </p:spTree>
    <p:extLst>
      <p:ext uri="{BB962C8B-B14F-4D97-AF65-F5344CB8AC3E}">
        <p14:creationId xmlns:p14="http://schemas.microsoft.com/office/powerpoint/2010/main" val="2974809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4C001AA-81EC-43BD-90E6-E2068CEC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4114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80">
                <a:solidFill>
                  <a:srgbClr val="6A3B84"/>
                </a:solidFill>
                <a:latin typeface="Aptos"/>
                <a:ea typeface="Aptos"/>
                <a:cs typeface="Aptos"/>
              </a:rPr>
              <a:t>KEY DECISION 3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4CF1BF1-8DE8-41E3-BBE7-7EF82CBB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85800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281E30"/>
                </a:solidFill>
                <a:latin typeface="Aptos Display"/>
                <a:ea typeface="Aptos Display"/>
                <a:cs typeface="Aptos Display"/>
              </a:rPr>
              <a:t>Grounded evaluation and human control</a:t>
            </a:r>
            <a:endParaRPr sz="25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90E4234-C51F-4038-8968-700C5A8D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28800"/>
            <a:ext cx="3246120" cy="292608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CFAFD"/>
          </a:solidFill>
          <a:ln xmlns:a="http://schemas.openxmlformats.org/drawingml/2006/main" w="12700">
            <a:solidFill>
              <a:srgbClr val="D9CED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31F9D87-7DB8-465C-98BE-6C22A906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130552"/>
            <a:ext cx="27889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rgbClr val="6A3B84"/>
                </a:solidFill>
                <a:latin typeface="Aptos Display"/>
                <a:ea typeface="Aptos Display"/>
                <a:cs typeface="Aptos Display"/>
              </a:rPr>
              <a:t>50</a:t>
            </a:r>
            <a:endParaRPr sz="3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A8E5737-D01C-4DEF-98F8-8B9A49BC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90672"/>
            <a:ext cx="26060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6E6475"/>
                </a:solidFill>
                <a:latin typeface="Aptos"/>
                <a:ea typeface="Aptos"/>
                <a:cs typeface="Aptos"/>
              </a:rPr>
              <a:t>Golden dataset examples with structured inputs, expected outputs, and case-aware metrics.</a:t>
            </a:r>
            <a:endParaRPr sz="11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69D9759-3808-46D6-8E70-29678982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1828800"/>
            <a:ext cx="3246120" cy="292608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CFAFD"/>
          </a:solidFill>
          <a:ln xmlns:a="http://schemas.openxmlformats.org/drawingml/2006/main" w="12700">
            <a:solidFill>
              <a:srgbClr val="D9CEDD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7D9524A-0A32-4E8C-B872-ADF35CDA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2130552"/>
            <a:ext cx="27889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rgbClr val="F4B740"/>
                </a:solidFill>
                <a:latin typeface="Aptos Display"/>
                <a:ea typeface="Aptos Display"/>
                <a:cs typeface="Aptos Display"/>
              </a:rPr>
              <a:t>3</a:t>
            </a:r>
            <a:endParaRPr sz="3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F4536FA-6BB0-453D-983B-73E8451E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3090672"/>
            <a:ext cx="26060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6E6475"/>
                </a:solidFill>
                <a:latin typeface="Aptos"/>
                <a:ea typeface="Aptos"/>
                <a:cs typeface="Aptos"/>
              </a:rPr>
              <a:t>Smoke cases: context retrieval, conflicting priorities, and prompt-injection resistance.</a:t>
            </a:r>
            <a:endParaRPr sz="11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776B4C5-D199-4F0B-973A-7A65665EB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9056" y="1828800"/>
            <a:ext cx="3246120" cy="292608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CFAFD"/>
          </a:solidFill>
          <a:ln xmlns:a="http://schemas.openxmlformats.org/drawingml/2006/main" w="12700">
            <a:solidFill>
              <a:srgbClr val="D9CEDD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F794191-6E46-4136-974C-647A21F2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656" y="2130552"/>
            <a:ext cx="27889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rgbClr val="D52C69"/>
                </a:solidFill>
                <a:latin typeface="Aptos Display"/>
                <a:ea typeface="Aptos Display"/>
                <a:cs typeface="Aptos Display"/>
              </a:rPr>
              <a:t>25</a:t>
            </a:r>
            <a:endParaRPr sz="3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0508167-2288-4FE8-9055-169F5E603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9096" y="3090672"/>
            <a:ext cx="26060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6E6475"/>
                </a:solidFill>
                <a:latin typeface="Aptos"/>
                <a:ea typeface="Aptos"/>
                <a:cs typeface="Aptos"/>
              </a:rPr>
              <a:t>Backend tests cover API behavior, orchestration, RAG retrieval, and classification regressions.</a:t>
            </a:r>
            <a:endParaRPr sz="11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1D54D69-F0F5-406C-B291-761FD60E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303520"/>
            <a:ext cx="10149840" cy="603504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EDE0F4"/>
          </a:solidFill>
          <a:ln xmlns:a="http://schemas.openxmlformats.org/drawingml/2006/main" w="12700">
            <a:solidFill>
              <a:srgbClr val="EDE0F4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26D1C85-BCF0-49D3-9A84-F18C6F9D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422392"/>
            <a:ext cx="9692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6A3B84"/>
                </a:solidFill>
                <a:latin typeface="Aptos"/>
                <a:ea typeface="Aptos"/>
                <a:cs typeface="Aptos"/>
              </a:rPr>
              <a:t>Safety routing requires human review for incidents, escalations, approvals, decisions, and high-priority messages. Autonomous action remains NONE.</a:t>
            </a:r>
            <a:endParaRPr sz="108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EC8AE73-B3CC-49E8-9C79-7EC3DF822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46520"/>
            <a:ext cx="109087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D9CEDD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4BD91D8-2CAF-4529-9592-A4199B1DD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10528"/>
            <a:ext cx="7772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E6475"/>
                </a:solidFill>
                <a:latin typeface="Aptos"/>
                <a:ea typeface="Aptos"/>
                <a:cs typeface="Aptos"/>
              </a:rPr>
              <a:t>Evaluation and safety</a:t>
            </a:r>
            <a:endParaRPr sz="7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DF72EE1-72B4-4C25-BAFE-D74C8B56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6510528"/>
            <a:ext cx="1764792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6E6475"/>
                </a:solidFill>
                <a:latin typeface="Aptos"/>
                <a:ea typeface="Aptos"/>
                <a:cs typeface="Aptos"/>
              </a:rPr>
              <a:t>ZAROORI BAAT</a:t>
            </a:r>
            <a:endParaRPr sz="750"/>
          </a:p>
        </p:txBody>
      </p:sp>
    </p:spTree>
    <p:extLst>
      <p:ext uri="{BB962C8B-B14F-4D97-AF65-F5344CB8AC3E}">
        <p14:creationId xmlns:p14="http://schemas.microsoft.com/office/powerpoint/2010/main" val="206506837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2026-09-12T16:23:44.2110000Z</dcterms:created>
  <dcterms:modified xsi:type="dcterms:W3CDTF">2026-09-12T16:23:44.2110000Z</dcterms:modified>
</coreProperties>
</file>