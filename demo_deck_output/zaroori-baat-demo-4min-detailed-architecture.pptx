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2e8582a186497b" /><Relationship Type="http://schemas.openxmlformats.org/officeDocument/2006/relationships/extended-properties" Target="/docProps/app.xml" Id="R4dd133f4d1d04229" /><Relationship Type="http://schemas.openxmlformats.org/officeDocument/2006/relationships/officeDocument" Target="/ppt/presentation.xml" Id="Re145a56bd737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891a2e54c451d"/>
  </p:sldMasterIdLst>
  <p:notesMasterIdLst>
    <p:notesMasterId xmlns:r="http://schemas.openxmlformats.org/officeDocument/2006/relationships" r:id="Re27fe282890f470e"/>
  </p:notesMasterIdLst>
  <p:sldIdLst>
    <p:sldId xmlns:r="http://schemas.openxmlformats.org/officeDocument/2006/relationships" id="256" r:id="R936e8791b243486e"/>
    <p:sldId xmlns:r="http://schemas.openxmlformats.org/officeDocument/2006/relationships" id="257" r:id="R303382c32c5e4444"/>
    <p:sldId xmlns:r="http://schemas.openxmlformats.org/officeDocument/2006/relationships" id="258" r:id="Re42c3b6c6183464b"/>
    <p:sldId xmlns:r="http://schemas.openxmlformats.org/officeDocument/2006/relationships" id="259" r:id="R62f10d99e4d84d1e"/>
    <p:sldId xmlns:r="http://schemas.openxmlformats.org/officeDocument/2006/relationships" id="260" r:id="R9d644caba9b94a0a"/>
    <p:sldId xmlns:r="http://schemas.openxmlformats.org/officeDocument/2006/relationships" id="261" r:id="Rb5d1a158c8e3463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f78c6a27b442f" /><Relationship Type="http://schemas.openxmlformats.org/officeDocument/2006/relationships/slideMaster" Target="/ppt/slideMasters/slideMaster1.xml" Id="Rb2b891a2e54c451d" /><Relationship Type="http://schemas.openxmlformats.org/officeDocument/2006/relationships/notesMaster" Target="/ppt/notesMasters/notesMaster1.xml" Id="Re27fe282890f470e" /><Relationship Type="http://schemas.openxmlformats.org/officeDocument/2006/relationships/presProps" Target="/ppt/presProps.xml" Id="Re5e47a711bc54fb7" /><Relationship Type="http://schemas.openxmlformats.org/officeDocument/2006/relationships/viewProps" Target="/ppt/viewProps.xml" Id="Ra9ef2b7815ef4397" /><Relationship Type="http://schemas.openxmlformats.org/officeDocument/2006/relationships/tableStyles" Target="/ppt/tableStyles.xml" Id="R3629f3ffec374911" /><Relationship Type="http://schemas.openxmlformats.org/officeDocument/2006/relationships/slide" Target="/ppt/slides/slide1.xml" Id="R936e8791b243486e" /><Relationship Type="http://schemas.openxmlformats.org/officeDocument/2006/relationships/slide" Target="/ppt/slides/slide2.xml" Id="R303382c32c5e4444" /><Relationship Type="http://schemas.openxmlformats.org/officeDocument/2006/relationships/slide" Target="/ppt/slides/slide3.xml" Id="Re42c3b6c6183464b" /><Relationship Type="http://schemas.openxmlformats.org/officeDocument/2006/relationships/slide" Target="/ppt/slides/slide4.xml" Id="R62f10d99e4d84d1e" /><Relationship Type="http://schemas.openxmlformats.org/officeDocument/2006/relationships/slide" Target="/ppt/slides/slide5.xml" Id="R9d644caba9b94a0a" /><Relationship Type="http://schemas.openxmlformats.org/officeDocument/2006/relationships/slide" Target="/ppt/slides/slide6.xml" Id="Rb5d1a158c8e3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060f1fe48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fbfad6c454704" /><Relationship Type="http://schemas.openxmlformats.org/officeDocument/2006/relationships/notesMaster" Target="/ppt/notesMasters/notesMaster1.xml" Id="Rab573d493db7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eb5b8dfd7441fb" /><Relationship Type="http://schemas.openxmlformats.org/officeDocument/2006/relationships/notesMaster" Target="/ppt/notesMasters/notesMaster1.xml" Id="R7e127b4c35f8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652e745404b64" /><Relationship Type="http://schemas.openxmlformats.org/officeDocument/2006/relationships/notesMaster" Target="/ppt/notesMasters/notesMaster1.xml" Id="Rea22d42b985643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5ebcb0b5e84716" /><Relationship Type="http://schemas.openxmlformats.org/officeDocument/2006/relationships/notesMaster" Target="/ppt/notesMasters/notesMaster1.xml" Id="R1d133846083949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ac08dd8c1491c" /><Relationship Type="http://schemas.openxmlformats.org/officeDocument/2006/relationships/notesMaster" Target="/ppt/notesMasters/notesMaster1.xml" Id="R3061fbe6f30746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ebf1ef0cbe4462" /><Relationship Type="http://schemas.openxmlformats.org/officeDocument/2006/relationships/notesMaster" Target="/ppt/notesMasters/notesMaster1.xml" Id="R324b0c357a10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shift from rules-first triage to AI-enriched context. LangGraph coordinates the workflow; Nebius and Mem0 are optional context sources; LangSmith provides traces; human review controls action and the system does not auto-send.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4caf4b64c46b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a6d6a907c4d8b" /><Relationship Type="http://schemas.openxmlformats.org/officeDocument/2006/relationships/slideLayout" Target="/ppt/slideLayouts/slideLayout1.xml" Id="Re0643fb01186434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643fb01186434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8dc75840449f" /><Relationship Type="http://schemas.openxmlformats.org/officeDocument/2006/relationships/image" Target="/ppt/media/image.png" Id="Rdc71bcfbfd134447" /><Relationship Type="http://schemas.openxmlformats.org/officeDocument/2006/relationships/image" Target="/ppt/media/image2.png" Id="Rf3d26b2822214a37" /><Relationship Type="http://schemas.openxmlformats.org/officeDocument/2006/relationships/notesSlide" Target="/ppt/notesSlides/notesSlide1.xml" Id="R2c7c092af2374d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034e3e62745d7" /><Relationship Type="http://schemas.openxmlformats.org/officeDocument/2006/relationships/image" Target="/ppt/media/image3.png" Id="Rd6cf803637464517" /><Relationship Type="http://schemas.openxmlformats.org/officeDocument/2006/relationships/notesSlide" Target="/ppt/notesSlides/notesSlide2.xml" Id="R65a370a0af90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d1be070c4716" /><Relationship Type="http://schemas.openxmlformats.org/officeDocument/2006/relationships/image" Target="/ppt/media/image4.png" Id="R844f622377904024" /><Relationship Type="http://schemas.openxmlformats.org/officeDocument/2006/relationships/notesSlide" Target="/ppt/notesSlides/notesSlide3.xml" Id="Rdd75be07b834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ea2e52ab54ca2" /><Relationship Type="http://schemas.openxmlformats.org/officeDocument/2006/relationships/image" Target="/ppt/media/image5.png" Id="Rbdeece589a0d4c69" /><Relationship Type="http://schemas.openxmlformats.org/officeDocument/2006/relationships/notesSlide" Target="/ppt/notesSlides/notesSlide4.xml" Id="R1cd9bbe30462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5823849d640eb" /><Relationship Type="http://schemas.openxmlformats.org/officeDocument/2006/relationships/image" Target="/ppt/media/image6.png" Id="R61a1f97c125b4ec8" /><Relationship Type="http://schemas.openxmlformats.org/officeDocument/2006/relationships/image" Target="/ppt/media/image7.png" Id="R464a0c828abe4e84" /><Relationship Type="http://schemas.openxmlformats.org/officeDocument/2006/relationships/notesSlide" Target="/ppt/notesSlides/notesSlide5.xml" Id="Re1e05d245f0e4b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ffce1b0a4031" /><Relationship Type="http://schemas.openxmlformats.org/officeDocument/2006/relationships/image" Target="/ppt/media/image8.png" Id="Rc7179dfad9884fd9" /><Relationship Type="http://schemas.openxmlformats.org/officeDocument/2006/relationships/notesSlide" Target="/ppt/notesSlides/notesSlide6.xml" Id="R05ee65b7d9a644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1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1bcfbfd13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A2C1611-5113-4C8C-8787-2CC6E66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2648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83A">
              <a:alpha val="96000"/>
            </a:srgbClr>
          </a:solidFill>
          <a:ln xmlns:a="http://schemas.openxmlformats.org/drawingml/2006/main" w="12700">
            <a:solidFill>
              <a:srgbClr val="2B183A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04C57E9-6D53-49CE-9B28-AC2BA02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128"/>
            <a:ext cx="4114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DABCE7"/>
                </a:solidFill>
                <a:latin typeface="Aptos"/>
                <a:ea typeface="Aptos"/>
                <a:cs typeface="Aptos"/>
              </a:rPr>
              <a:t>ZAROORI BATH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5D67900-084E-408D-9BB3-C0232E6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team of 6</a:t>
            </a:r>
            <a:endParaRPr sz="26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building Slack intelligence</a:t>
            </a:r>
            <a:endParaRPr sz="2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DB8AA4-A445-47DB-A819-C0FECEF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667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1E8F6"/>
                </a:solidFill>
                <a:latin typeface="Aptos"/>
                <a:ea typeface="Aptos"/>
                <a:cs typeface="Aptos"/>
              </a:rPr>
              <a:t>Zaroori Baat  |  Slack message intelligence</a:t>
            </a:r>
            <a:endParaRPr sz="10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66FF41-2AF7-41E0-B7D3-817A021F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201168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52C69"/>
          </a:solidFill>
          <a:ln xmlns:a="http://schemas.openxmlformats.org/drawingml/2006/main" w="12700">
            <a:solidFill>
              <a:srgbClr val="D52C6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F831E5C-5446-46D9-82C9-7E3956E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2011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  <a:endParaRPr sz="950"/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26b2822214a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52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C64703-FD41-46D4-8881-507DB43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80">
                <a:solidFill>
                  <a:srgbClr val="6A3B84"/>
                </a:solidFill>
                <a:latin typeface="Aptos"/>
                <a:ea typeface="Aptos"/>
                <a:cs typeface="Aptos"/>
              </a:rPr>
              <a:t>PRODUCT OUTCOME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52B60E-8A54-4541-900A-0113F4B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81E30"/>
                </a:solidFill>
                <a:latin typeface="Aptos Display"/>
                <a:ea typeface="Aptos Display"/>
                <a:cs typeface="Aptos Display"/>
              </a:rPr>
              <a:t>One workspace for Slack signals that need a human decision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6F3502-B269-4BA0-B999-A03F34AF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47472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506583D-D4A7-4312-87A1-F0031772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73152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EC9"/>
          </a:solidFill>
          <a:ln xmlns:a="http://schemas.openxmlformats.org/drawingml/2006/main" w="12700">
            <a:solidFill>
              <a:srgbClr val="407EC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424EC7-4916-4788-9C35-F786EF7E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488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81E30"/>
                </a:solidFill>
                <a:latin typeface="Aptos"/>
                <a:ea typeface="Aptos"/>
                <a:cs typeface="Aptos"/>
              </a:rPr>
              <a:t>1. Capture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0006F9-CAEA-4D36-BF65-9FDFFE8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97480"/>
            <a:ext cx="2971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E6475"/>
                </a:solidFill>
                <a:latin typeface="Aptos"/>
                <a:ea typeface="Aptos"/>
                <a:cs typeface="Aptos"/>
              </a:rPr>
              <a:t>Slack events and bounded history sync enter the same protected workflow.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AC3CE0-0FF8-4452-AFF1-CF09A16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347472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514332-44A3-4813-A3F6-2580EA2A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73152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12700">
            <a:solidFill>
              <a:srgbClr val="F4B74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59D6F1-23D6-457D-BB39-2A1C98F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1488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81E30"/>
                </a:solidFill>
                <a:latin typeface="Aptos"/>
                <a:ea typeface="Aptos"/>
                <a:cs typeface="Aptos"/>
              </a:rPr>
              <a:t>2. Understand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E4E5F3-D2BF-4294-895F-04958C0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697480"/>
            <a:ext cx="2971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E6475"/>
                </a:solidFill>
                <a:latin typeface="Aptos"/>
                <a:ea typeface="Aptos"/>
                <a:cs typeface="Aptos"/>
              </a:rPr>
              <a:t>The app classifies priority, retrieves context, extracts actions, and records decisions.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74DD92E-A62F-4681-85A6-03A95554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828800"/>
            <a:ext cx="347472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F4811FB-0D33-444D-B492-2CFC30D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828800"/>
            <a:ext cx="73152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C69"/>
          </a:solidFill>
          <a:ln xmlns:a="http://schemas.openxmlformats.org/drawingml/2006/main" w="12700">
            <a:solidFill>
              <a:srgbClr val="D52C6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8695E7-F1BE-43C0-A60E-81B76038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1488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81E30"/>
                </a:solidFill>
                <a:latin typeface="Aptos"/>
                <a:ea typeface="Aptos"/>
                <a:cs typeface="Aptos"/>
              </a:rPr>
              <a:t>3. Review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74073F-797A-451C-98CB-7C74C90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97480"/>
            <a:ext cx="2971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E6475"/>
                </a:solidFill>
                <a:latin typeface="Aptos"/>
                <a:ea typeface="Aptos"/>
                <a:cs typeface="Aptos"/>
              </a:rPr>
              <a:t>People review the result. The app does not send a Slack reply or approve work automatically.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134997-B46D-4D97-8285-79BD555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13832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A3B84"/>
                </a:solidFill>
                <a:latin typeface="Aptos"/>
                <a:ea typeface="Aptos"/>
                <a:cs typeface="Aptos"/>
              </a:rPr>
              <a:t>The demo focuses on speed, grounded context, and safety — every message receives a visible classification and reason.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09752C-371B-4AED-A413-BCC1483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4652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CED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2065E2-2EDB-475F-B604-B6B4B98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7772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E6475"/>
                </a:solidFill>
                <a:latin typeface="Aptos"/>
                <a:ea typeface="Aptos"/>
                <a:cs typeface="Aptos"/>
              </a:rPr>
              <a:t>Product story</a:t>
            </a:r>
            <a:endParaRPr sz="7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D7322FF-55C6-4894-8A40-172A1EF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6510528"/>
            <a:ext cx="1764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6E6475"/>
                </a:solidFill>
                <a:latin typeface="Aptos"/>
                <a:ea typeface="Aptos"/>
                <a:cs typeface="Aptos"/>
              </a:rPr>
              <a:t>ZAROORI BAAT</a:t>
            </a:r>
            <a:endParaRPr sz="750"/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f8036374645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27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f6223779040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728" y="109728"/>
            <a:ext cx="11969496" cy="66202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33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1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633462-7B35-45A1-93E9-60FCE5E8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80">
                <a:solidFill>
                  <a:srgbClr val="C9AAD9"/>
                </a:solidFill>
                <a:latin typeface="Aptos"/>
                <a:ea typeface="Aptos"/>
                <a:cs typeface="Aptos"/>
              </a:rPr>
              <a:t>KEY DECISION 1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08DE35-F057-4AF5-A251-C4CAE50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Keep Slack delivery fast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62A82E-0ED9-4E87-AFF7-FEEF99E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10896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BFA2CD"/>
            </a:solidFill>
            <a:prstDash val="solid"/>
            <a:headEnd type="none"/>
            <a:tailEnd type="triangle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59570C9-1A27-4FCB-970B-535D2969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EC9"/>
          </a:solidFill>
          <a:ln xmlns:a="http://schemas.openxmlformats.org/drawingml/2006/main" w="12700">
            <a:solidFill>
              <a:srgbClr val="407EC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4B2787-DC82-497F-987E-7CBA683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896A68-6F34-4F27-A143-9375AA8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67328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Slack event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F95A44-ED01-45BA-B201-1A97070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51960"/>
            <a:ext cx="2148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E9DDEC"/>
                </a:solidFill>
                <a:latin typeface="Aptos"/>
                <a:ea typeface="Aptos"/>
                <a:cs typeface="Aptos"/>
              </a:rPr>
              <a:t>Acknowledged immediately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857DBDB-3BE5-4ED6-9934-6F7CF88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231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12700">
            <a:solidFill>
              <a:srgbClr val="F4B74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DED0F4B-2F5B-41DF-AC64-C8850FA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231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8E87E8-F785-428C-91D1-35030FB2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767328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Inbox row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85CF73C-5B67-48CB-912A-A62779C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51960"/>
            <a:ext cx="2148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E9DDEC"/>
                </a:solidFill>
                <a:latin typeface="Aptos"/>
                <a:ea typeface="Aptos"/>
                <a:cs typeface="Aptos"/>
              </a:rPr>
              <a:t>Visible while queued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B924B70-FEE6-416F-8D54-BD853D2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2C69"/>
          </a:solidFill>
          <a:ln xmlns:a="http://schemas.openxmlformats.org/drawingml/2006/main" w="12700">
            <a:solidFill>
              <a:srgbClr val="D52C6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3F1A00-DE49-4F50-9766-63B39F77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D3003A-0482-4AEA-B40D-C6C6880B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7328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Background workflow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7B3D1A6-8AED-4E08-A879-1E2AEE7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2148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E9DDEC"/>
                </a:solidFill>
                <a:latin typeface="Aptos"/>
                <a:ea typeface="Aptos"/>
                <a:cs typeface="Aptos"/>
              </a:rPr>
              <a:t>Enriches without blocking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3E3C44-AFAA-4F40-80A4-062DDC8A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4688"/>
            <a:ext cx="9921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8D9ED"/>
                </a:solidFill>
                <a:latin typeface="Aptos"/>
                <a:ea typeface="Aptos"/>
                <a:cs typeface="Aptos"/>
              </a:rPr>
              <a:t>Default: SLACK_FAST_PATH=true. A second Slack sync does not start while one is already running.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739A17-3591-400D-BCF8-49D04E48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4652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604B7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3BB1621-3FD2-46B1-B001-67DC681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7772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D9CDE0"/>
                </a:solidFill>
                <a:latin typeface="Aptos"/>
                <a:ea typeface="Aptos"/>
                <a:cs typeface="Aptos"/>
              </a:rPr>
              <a:t>Performance decision</a:t>
            </a:r>
            <a:endParaRPr sz="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62B475F-8F95-4130-B6C0-FF9A730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6510528"/>
            <a:ext cx="1764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D9CDE0"/>
                </a:solidFill>
                <a:latin typeface="Aptos"/>
                <a:ea typeface="Aptos"/>
                <a:cs typeface="Aptos"/>
              </a:rPr>
              <a:t>ZAROORI BAAT</a:t>
            </a:r>
            <a:endParaRPr sz="750"/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ece589a0d4c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40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1f97c125b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A305350-3258-463B-A6ED-C8875A6D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80">
                <a:solidFill>
                  <a:srgbClr val="6A3B84"/>
                </a:solidFill>
                <a:latin typeface="Aptos"/>
                <a:ea typeface="Aptos"/>
                <a:cs typeface="Aptos"/>
              </a:rPr>
              <a:t>KEY DECISION 2</a:t>
            </a:r>
            <a:endParaRPr sz="8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4E45F0A-D807-44A9-9164-87FDBADF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81E30"/>
                </a:solidFill>
                <a:latin typeface="Aptos Display"/>
                <a:ea typeface="Aptos Display"/>
                <a:cs typeface="Aptos Display"/>
              </a:rPr>
              <a:t>Hybrid RAG, stored locally</a:t>
            </a:r>
            <a:endParaRPr sz="2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355FD16-92D5-4004-819F-83CB539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3B84"/>
          </a:solidFill>
          <a:ln xmlns:a="http://schemas.openxmlformats.org/drawingml/2006/main" w="12700">
            <a:solidFill>
              <a:srgbClr val="6A3B84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C7BCA9A-8902-45B2-AC28-A3DD1C4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764792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281E30"/>
                </a:solidFill>
                <a:latin typeface="Aptos"/>
                <a:ea typeface="Aptos"/>
                <a:cs typeface="Aptos"/>
              </a:rPr>
              <a:t>SQLite stores message embeddings locally.</a:t>
            </a:r>
            <a:endParaRPr sz="124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4EA09C3-B414-4C29-B251-E7796376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877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3B84"/>
          </a:solidFill>
          <a:ln xmlns:a="http://schemas.openxmlformats.org/drawingml/2006/main" w="12700">
            <a:solidFill>
              <a:srgbClr val="6A3B84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4EC727-E60B-4B99-8D14-708B7CDA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478024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281E30"/>
                </a:solidFill>
                <a:latin typeface="Aptos"/>
                <a:ea typeface="Aptos"/>
                <a:cs typeface="Aptos"/>
              </a:rPr>
              <a:t>Cosine similarity augments keyword and thread matching.</a:t>
            </a:r>
            <a:endParaRPr sz="124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DBB17FA-23E6-46CF-A14A-FF2E942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3B84"/>
          </a:solidFill>
          <a:ln xmlns:a="http://schemas.openxmlformats.org/drawingml/2006/main" w="12700">
            <a:solidFill>
              <a:srgbClr val="6A3B84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E27DD49-56E7-4B66-925B-62E21F5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191256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281E30"/>
                </a:solidFill>
                <a:latin typeface="Aptos"/>
                <a:ea typeface="Aptos"/>
                <a:cs typeface="Aptos"/>
              </a:rPr>
              <a:t>Refresh analysis uses RAG by default.</a:t>
            </a:r>
            <a:endParaRPr sz="12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47C1098-3EED-4D7D-8130-03722ED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1421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3B84"/>
          </a:solidFill>
          <a:ln xmlns:a="http://schemas.openxmlformats.org/drawingml/2006/main" w="12700">
            <a:solidFill>
              <a:srgbClr val="6A3B8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B6BA7A4-AD8E-40A1-954A-3B5A739E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904488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281E30"/>
                </a:solidFill>
                <a:latin typeface="Aptos"/>
                <a:ea typeface="Aptos"/>
                <a:cs typeface="Aptos"/>
              </a:rPr>
              <a:t>RAG stays off the live fast path unless explicitly enabled.</a:t>
            </a:r>
            <a:endParaRPr sz="124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29A5B23-A483-4455-8242-A830C7D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83480"/>
            <a:ext cx="50749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F2E8"/>
          </a:solidFill>
          <a:ln xmlns:a="http://schemas.openxmlformats.org/drawingml/2006/main" w="12700">
            <a:solidFill>
              <a:srgbClr val="BDE2C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7CC090-75F7-40BB-930C-1FCEF8B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02352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9715B"/>
                </a:solidFill>
                <a:latin typeface="Aptos"/>
                <a:ea typeface="Aptos"/>
                <a:cs typeface="Aptos"/>
              </a:rPr>
              <a:t>No Pinecone for this demo: the local index suits the current Slack history and keeps data local.</a:t>
            </a:r>
            <a:endParaRPr sz="9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0B9B14D-7081-4DD3-A3E1-C9928AA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4652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CEDD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D0144AE-C90A-4F55-B08C-CDB5335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7772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E6475"/>
                </a:solidFill>
                <a:latin typeface="Aptos"/>
                <a:ea typeface="Aptos"/>
                <a:cs typeface="Aptos"/>
              </a:rPr>
              <a:t>Context decision</a:t>
            </a:r>
            <a:endParaRPr sz="7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38BF9E5-CA8B-47A4-A697-29F9583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6510528"/>
            <a:ext cx="1764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6E6475"/>
                </a:solidFill>
                <a:latin typeface="Aptos"/>
                <a:ea typeface="Aptos"/>
                <a:cs typeface="Aptos"/>
              </a:rPr>
              <a:t>ZAROORI BAAT</a:t>
            </a:r>
            <a:endParaRPr sz="75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a0c828abe4e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0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C001AA-81EC-43BD-90E6-E2068CE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80">
                <a:solidFill>
                  <a:srgbClr val="6A3B84"/>
                </a:solidFill>
                <a:latin typeface="Aptos"/>
                <a:ea typeface="Aptos"/>
                <a:cs typeface="Aptos"/>
              </a:rPr>
              <a:t>KEY DECISION 3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F1BF1-8DE8-41E3-BBE7-7EF82CB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81E30"/>
                </a:solidFill>
                <a:latin typeface="Aptos Display"/>
                <a:ea typeface="Aptos Display"/>
                <a:cs typeface="Aptos Display"/>
              </a:rPr>
              <a:t>Grounded evaluation and human control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0E4234-C51F-4038-8968-700C5A8D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324612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CFAFD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1F9D87-7DB8-465C-98BE-6C22A906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30552"/>
            <a:ext cx="2788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6A3B84"/>
                </a:solidFill>
                <a:latin typeface="Aptos Display"/>
                <a:ea typeface="Aptos Display"/>
                <a:cs typeface="Aptos Display"/>
              </a:rPr>
              <a:t>50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8E5737-D01C-4DEF-98F8-8B9A49B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0672"/>
            <a:ext cx="2606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E6475"/>
                </a:solidFill>
                <a:latin typeface="Aptos"/>
                <a:ea typeface="Aptos"/>
                <a:cs typeface="Aptos"/>
              </a:rPr>
              <a:t>Golden dataset examples with structured inputs, expected outputs, and case-aware metrics.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69D9759-3808-46D6-8E70-2967898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828800"/>
            <a:ext cx="324612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CFAFD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7D9524A-0A32-4E8C-B872-ADF35CDA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130552"/>
            <a:ext cx="2788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4B740"/>
                </a:solidFill>
                <a:latin typeface="Aptos Display"/>
                <a:ea typeface="Aptos Display"/>
                <a:cs typeface="Aptos Display"/>
              </a:rPr>
              <a:t>3</a:t>
            </a:r>
            <a:endParaRPr sz="3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4536FA-6BB0-453D-983B-73E8451E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090672"/>
            <a:ext cx="2606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E6475"/>
                </a:solidFill>
                <a:latin typeface="Aptos"/>
                <a:ea typeface="Aptos"/>
                <a:cs typeface="Aptos"/>
              </a:rPr>
              <a:t>Smoke cases: context retrieval, conflicting priorities, and prompt-injection resistance.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76B4C5-D199-4F0B-973A-7A65665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1828800"/>
            <a:ext cx="324612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CFAFD"/>
          </a:solidFill>
          <a:ln xmlns:a="http://schemas.openxmlformats.org/drawingml/2006/main" w="12700">
            <a:solidFill>
              <a:srgbClr val="D9CED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794191-6E46-4136-974C-647A21F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130552"/>
            <a:ext cx="2788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D52C69"/>
                </a:solidFill>
                <a:latin typeface="Aptos Display"/>
                <a:ea typeface="Aptos Display"/>
                <a:cs typeface="Aptos Display"/>
              </a:rPr>
              <a:t>25</a:t>
            </a:r>
            <a:endParaRPr sz="3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508167-2288-4FE8-9055-169F5E60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090672"/>
            <a:ext cx="2606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E6475"/>
                </a:solidFill>
                <a:latin typeface="Aptos"/>
                <a:ea typeface="Aptos"/>
                <a:cs typeface="Aptos"/>
              </a:rPr>
              <a:t>Backend tests cover API behavior, orchestration, RAG retrieval, and classification regressions.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1D54D69-F0F5-406C-B291-761FD60E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03520"/>
            <a:ext cx="10149840" cy="60350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DE0F4"/>
          </a:solidFill>
          <a:ln xmlns:a="http://schemas.openxmlformats.org/drawingml/2006/main" w="12700">
            <a:solidFill>
              <a:srgbClr val="EDE0F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26D1C85-BCF0-49D3-9A84-F18C6F9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22392"/>
            <a:ext cx="9692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6A3B84"/>
                </a:solidFill>
                <a:latin typeface="Aptos"/>
                <a:ea typeface="Aptos"/>
                <a:cs typeface="Aptos"/>
              </a:rPr>
              <a:t>Safety routing requires human review for incidents, escalations, approvals, decisions, and high-priority messages. Autonomous action remains NONE.</a:t>
            </a:r>
            <a:endParaRPr sz="108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EC8AE73-B3CC-49E8-9C79-7EC3DF82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4652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CED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BD91D8-2CAF-4529-9592-A4199B1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7772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E6475"/>
                </a:solidFill>
                <a:latin typeface="Aptos"/>
                <a:ea typeface="Aptos"/>
                <a:cs typeface="Aptos"/>
              </a:rPr>
              <a:t>Evaluation and safety</a:t>
            </a:r>
            <a:endParaRPr sz="7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F72EE1-72B4-4C25-BAFE-D74C8B56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6510528"/>
            <a:ext cx="1764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6E6475"/>
                </a:solidFill>
                <a:latin typeface="Aptos"/>
                <a:ea typeface="Aptos"/>
                <a:cs typeface="Aptos"/>
              </a:rPr>
              <a:t>ZAROORI BAAT</a:t>
            </a:r>
            <a:endParaRPr sz="750"/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79dfad9884f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683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2026-09-12T17:53:11.9580000Z</dcterms:created>
  <dcterms:modified xsi:type="dcterms:W3CDTF">2026-09-12T17:53:11.9580000Z</dcterms:modified>
</coreProperties>
</file>